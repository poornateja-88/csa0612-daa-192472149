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693400" cy="7562850"/>
  <p:notesSz cx="10693400" cy="7562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301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2212" y="1951411"/>
            <a:ext cx="8279697" cy="2016761"/>
          </a:xfrm>
        </p:spPr>
        <p:txBody>
          <a:bodyPr anchor="b">
            <a:normAutofit/>
          </a:bodyPr>
          <a:lstStyle>
            <a:lvl1pPr algn="ctr">
              <a:defRPr sz="59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2212" y="3968169"/>
            <a:ext cx="8279697" cy="115777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504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2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5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9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3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4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6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176" y="1942067"/>
            <a:ext cx="8411712" cy="2016774"/>
          </a:xfrm>
        </p:spPr>
        <p:txBody>
          <a:bodyPr anchor="b"/>
          <a:lstStyle>
            <a:lvl1pPr algn="ctr">
              <a:defRPr sz="4411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6176" y="3958839"/>
            <a:ext cx="8411712" cy="1661946"/>
          </a:xfrm>
        </p:spPr>
        <p:txBody>
          <a:bodyPr anchor="t"/>
          <a:lstStyle>
            <a:lvl1pPr marL="0" indent="0" algn="ctr">
              <a:buNone/>
              <a:defRPr sz="2206">
                <a:solidFill>
                  <a:schemeClr val="tx1"/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6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1476" y="1910506"/>
            <a:ext cx="4438478" cy="44758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0454" y="1910508"/>
            <a:ext cx="4442134" cy="44759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1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73" y="1952274"/>
            <a:ext cx="4429181" cy="453567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406" y="1952274"/>
            <a:ext cx="4429181" cy="45356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2234" y="2023877"/>
            <a:ext cx="4276960" cy="600886"/>
          </a:xfrm>
        </p:spPr>
        <p:txBody>
          <a:bodyPr anchor="b">
            <a:noAutofit/>
          </a:bodyPr>
          <a:lstStyle>
            <a:lvl1pPr marL="0" indent="0" algn="ctr">
              <a:buNone/>
              <a:defRPr sz="2647" b="0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2234" y="2624764"/>
            <a:ext cx="4276960" cy="3761644"/>
          </a:xfrm>
        </p:spPr>
        <p:txBody>
          <a:bodyPr anchor="t">
            <a:normAutofit/>
          </a:bodyPr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21210" y="2023879"/>
            <a:ext cx="4293613" cy="600885"/>
          </a:xfrm>
        </p:spPr>
        <p:txBody>
          <a:bodyPr anchor="b">
            <a:noAutofit/>
          </a:bodyPr>
          <a:lstStyle>
            <a:lvl1pPr marL="0" indent="0" algn="ctr">
              <a:buNone/>
              <a:defRPr sz="2647" b="0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21210" y="2624764"/>
            <a:ext cx="4293613" cy="3761644"/>
          </a:xfrm>
        </p:spPr>
        <p:txBody>
          <a:bodyPr anchor="t">
            <a:normAutofit/>
          </a:bodyPr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8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447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07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476" y="672253"/>
            <a:ext cx="3251251" cy="2009171"/>
          </a:xfrm>
        </p:spPr>
        <p:txBody>
          <a:bodyPr anchor="b">
            <a:normAutofit/>
          </a:bodyPr>
          <a:lstStyle>
            <a:lvl1pPr algn="ctr">
              <a:defRPr sz="264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8795" y="672254"/>
            <a:ext cx="5623792" cy="571415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1476" y="2681424"/>
            <a:ext cx="3251251" cy="370498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3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943" y="672609"/>
            <a:ext cx="4009026" cy="57404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475" y="672610"/>
            <a:ext cx="4589691" cy="2017353"/>
          </a:xfrm>
        </p:spPr>
        <p:txBody>
          <a:bodyPr anchor="b">
            <a:noAutofit/>
          </a:bodyPr>
          <a:lstStyle>
            <a:lvl1pPr algn="ctr">
              <a:defRPr sz="352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20008" y="820455"/>
            <a:ext cx="3701730" cy="541775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764"/>
            </a:lvl2pPr>
            <a:lvl3pPr marL="1008400" indent="0">
              <a:buNone/>
              <a:defRPr sz="1764"/>
            </a:lvl3pPr>
            <a:lvl4pPr marL="1512600" indent="0">
              <a:buNone/>
              <a:defRPr sz="1764"/>
            </a:lvl4pPr>
            <a:lvl5pPr marL="2016801" indent="0">
              <a:buNone/>
              <a:defRPr sz="1764"/>
            </a:lvl5pPr>
            <a:lvl6pPr marL="2521001" indent="0">
              <a:buNone/>
              <a:defRPr sz="1764"/>
            </a:lvl6pPr>
            <a:lvl7pPr marL="3025201" indent="0">
              <a:buNone/>
              <a:defRPr sz="1764"/>
            </a:lvl7pPr>
            <a:lvl8pPr marL="3529401" indent="0">
              <a:buNone/>
              <a:defRPr sz="1764"/>
            </a:lvl8pPr>
            <a:lvl9pPr marL="4033601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1475" y="2689963"/>
            <a:ext cx="4589691" cy="372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5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61" y="595594"/>
            <a:ext cx="8953278" cy="42284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484" y="5034462"/>
            <a:ext cx="9082484" cy="599329"/>
          </a:xfrm>
        </p:spPr>
        <p:txBody>
          <a:bodyPr anchor="b">
            <a:normAutofit/>
          </a:bodyPr>
          <a:lstStyle>
            <a:lvl1pPr algn="ctr">
              <a:defRPr sz="30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60" y="766442"/>
            <a:ext cx="8520104" cy="388803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206"/>
            </a:lvl1pPr>
            <a:lvl2pPr marL="504200" indent="0">
              <a:buNone/>
              <a:defRPr sz="2206"/>
            </a:lvl2pPr>
            <a:lvl3pPr marL="1008400" indent="0">
              <a:buNone/>
              <a:defRPr sz="2206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1474" y="5633792"/>
            <a:ext cx="9081113" cy="752615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76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474" y="670971"/>
            <a:ext cx="9081113" cy="3897596"/>
          </a:xfrm>
        </p:spPr>
        <p:txBody>
          <a:bodyPr anchor="ctr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1474" y="4736629"/>
            <a:ext cx="9081113" cy="1656180"/>
          </a:xfrm>
        </p:spPr>
        <p:txBody>
          <a:bodyPr anchor="ctr"/>
          <a:lstStyle>
            <a:lvl1pPr marL="0" indent="0" algn="ctr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749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448" y="672253"/>
            <a:ext cx="8159289" cy="3300508"/>
          </a:xfrm>
        </p:spPr>
        <p:txBody>
          <a:bodyPr anchor="ctr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09149" y="3981065"/>
            <a:ext cx="7676495" cy="587504"/>
          </a:xfrm>
        </p:spPr>
        <p:txBody>
          <a:bodyPr anchor="t">
            <a:normAutofit/>
          </a:bodyPr>
          <a:lstStyle>
            <a:lvl1pPr marL="0" indent="0" algn="r">
              <a:buNone/>
              <a:defRPr sz="154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1474" y="4746745"/>
            <a:ext cx="9081113" cy="16425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733778" y="963731"/>
            <a:ext cx="534670" cy="644878"/>
          </a:xfrm>
          <a:prstGeom prst="rect">
            <a:avLst/>
          </a:prstGeom>
        </p:spPr>
        <p:txBody>
          <a:bodyPr vert="horz" lIns="100838" tIns="50419" rIns="100838" bIns="5041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22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4831" y="3234717"/>
            <a:ext cx="534670" cy="644878"/>
          </a:xfrm>
          <a:prstGeom prst="rect">
            <a:avLst/>
          </a:prstGeom>
        </p:spPr>
        <p:txBody>
          <a:bodyPr vert="horz" lIns="100838" tIns="50419" rIns="100838" bIns="50419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822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8616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474" y="2345546"/>
            <a:ext cx="9081113" cy="2769996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1466" y="5128530"/>
            <a:ext cx="9079741" cy="1257877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066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01474" y="672253"/>
            <a:ext cx="9081113" cy="10701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01474" y="2079784"/>
            <a:ext cx="2895238" cy="635489"/>
          </a:xfrm>
        </p:spPr>
        <p:txBody>
          <a:bodyPr anchor="b">
            <a:noAutofit/>
          </a:bodyPr>
          <a:lstStyle>
            <a:lvl1pPr marL="0" indent="0" algn="ctr">
              <a:buNone/>
              <a:defRPr sz="2647" b="0">
                <a:solidFill>
                  <a:schemeClr val="tx1"/>
                </a:solidFill>
              </a:defRPr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01474" y="2836069"/>
            <a:ext cx="2895238" cy="3550338"/>
          </a:xfrm>
        </p:spPr>
        <p:txBody>
          <a:bodyPr anchor="t">
            <a:normAutofit/>
          </a:bodyPr>
          <a:lstStyle>
            <a:lvl1pPr marL="0" indent="0" algn="ctr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00136" y="2079784"/>
            <a:ext cx="2895238" cy="635489"/>
          </a:xfrm>
        </p:spPr>
        <p:txBody>
          <a:bodyPr anchor="b">
            <a:noAutofit/>
          </a:bodyPr>
          <a:lstStyle>
            <a:lvl1pPr marL="0" indent="0" algn="ctr">
              <a:buNone/>
              <a:defRPr sz="2647" b="0">
                <a:solidFill>
                  <a:schemeClr val="tx1"/>
                </a:solidFill>
              </a:defRPr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95508" y="2836069"/>
            <a:ext cx="2895238" cy="3550338"/>
          </a:xfrm>
        </p:spPr>
        <p:txBody>
          <a:bodyPr anchor="t">
            <a:normAutofit/>
          </a:bodyPr>
          <a:lstStyle>
            <a:lvl1pPr marL="0" indent="0" algn="ctr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87348" y="2079784"/>
            <a:ext cx="2895238" cy="635489"/>
          </a:xfrm>
        </p:spPr>
        <p:txBody>
          <a:bodyPr anchor="b">
            <a:noAutofit/>
          </a:bodyPr>
          <a:lstStyle>
            <a:lvl1pPr marL="0" indent="0" algn="ctr">
              <a:buNone/>
              <a:defRPr sz="2647" b="0">
                <a:solidFill>
                  <a:schemeClr val="tx1"/>
                </a:solidFill>
              </a:defRPr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987348" y="2836069"/>
            <a:ext cx="2895238" cy="3550338"/>
          </a:xfrm>
        </p:spPr>
        <p:txBody>
          <a:bodyPr anchor="t">
            <a:normAutofit/>
          </a:bodyPr>
          <a:lstStyle>
            <a:lvl1pPr marL="0" indent="0" algn="ctr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82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43" y="2013722"/>
            <a:ext cx="2957579" cy="2022007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31" y="2013722"/>
            <a:ext cx="2957579" cy="2022007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117" y="2013722"/>
            <a:ext cx="2957579" cy="2022007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01474" y="672253"/>
            <a:ext cx="9081113" cy="10701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01474" y="4305361"/>
            <a:ext cx="2895238" cy="635489"/>
          </a:xfrm>
        </p:spPr>
        <p:txBody>
          <a:bodyPr anchor="b">
            <a:noAutofit/>
          </a:bodyPr>
          <a:lstStyle>
            <a:lvl1pPr marL="0" indent="0" algn="ctr">
              <a:buNone/>
              <a:defRPr sz="2206" b="0">
                <a:solidFill>
                  <a:schemeClr val="tx1"/>
                </a:solidFill>
              </a:defRPr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2961" y="2138196"/>
            <a:ext cx="2712264" cy="1767702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764"/>
            </a:lvl2pPr>
            <a:lvl3pPr marL="1008400" indent="0">
              <a:buNone/>
              <a:defRPr sz="1764"/>
            </a:lvl3pPr>
            <a:lvl4pPr marL="1512600" indent="0">
              <a:buNone/>
              <a:defRPr sz="1764"/>
            </a:lvl4pPr>
            <a:lvl5pPr marL="2016801" indent="0">
              <a:buNone/>
              <a:defRPr sz="1764"/>
            </a:lvl5pPr>
            <a:lvl6pPr marL="2521001" indent="0">
              <a:buNone/>
              <a:defRPr sz="1764"/>
            </a:lvl6pPr>
            <a:lvl7pPr marL="3025201" indent="0">
              <a:buNone/>
              <a:defRPr sz="1764"/>
            </a:lvl7pPr>
            <a:lvl8pPr marL="3529401" indent="0">
              <a:buNone/>
              <a:defRPr sz="1764"/>
            </a:lvl8pPr>
            <a:lvl9pPr marL="4033601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01474" y="4940852"/>
            <a:ext cx="2895238" cy="1445558"/>
          </a:xfrm>
        </p:spPr>
        <p:txBody>
          <a:bodyPr anchor="t">
            <a:normAutofit/>
          </a:bodyPr>
          <a:lstStyle>
            <a:lvl1pPr marL="0" indent="0" algn="ctr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96695" y="4305361"/>
            <a:ext cx="2895238" cy="635489"/>
          </a:xfrm>
        </p:spPr>
        <p:txBody>
          <a:bodyPr anchor="b">
            <a:noAutofit/>
          </a:bodyPr>
          <a:lstStyle>
            <a:lvl1pPr marL="0" indent="0" algn="ctr">
              <a:buNone/>
              <a:defRPr sz="2206" b="0">
                <a:solidFill>
                  <a:schemeClr val="tx1"/>
                </a:solidFill>
              </a:defRPr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86995" y="2138390"/>
            <a:ext cx="2712264" cy="1773448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764"/>
            </a:lvl2pPr>
            <a:lvl3pPr marL="1008400" indent="0">
              <a:buNone/>
              <a:defRPr sz="1764"/>
            </a:lvl3pPr>
            <a:lvl4pPr marL="1512600" indent="0">
              <a:buNone/>
              <a:defRPr sz="1764"/>
            </a:lvl4pPr>
            <a:lvl5pPr marL="2016801" indent="0">
              <a:buNone/>
              <a:defRPr sz="1764"/>
            </a:lvl5pPr>
            <a:lvl6pPr marL="2521001" indent="0">
              <a:buNone/>
              <a:defRPr sz="1764"/>
            </a:lvl6pPr>
            <a:lvl7pPr marL="3025201" indent="0">
              <a:buNone/>
              <a:defRPr sz="1764"/>
            </a:lvl7pPr>
            <a:lvl8pPr marL="3529401" indent="0">
              <a:buNone/>
              <a:defRPr sz="1764"/>
            </a:lvl8pPr>
            <a:lvl9pPr marL="4033601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95508" y="4940851"/>
            <a:ext cx="2896425" cy="1445558"/>
          </a:xfrm>
        </p:spPr>
        <p:txBody>
          <a:bodyPr anchor="t">
            <a:normAutofit/>
          </a:bodyPr>
          <a:lstStyle>
            <a:lvl1pPr marL="0" indent="0" algn="ctr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87457" y="4305361"/>
            <a:ext cx="2895238" cy="635489"/>
          </a:xfrm>
        </p:spPr>
        <p:txBody>
          <a:bodyPr anchor="b">
            <a:noAutofit/>
          </a:bodyPr>
          <a:lstStyle>
            <a:lvl1pPr marL="0" indent="0" algn="ctr">
              <a:buNone/>
              <a:defRPr sz="2206" b="0">
                <a:solidFill>
                  <a:schemeClr val="tx1"/>
                </a:solidFill>
              </a:defRPr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083061" y="2133249"/>
            <a:ext cx="2712264" cy="1772488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200" indent="0">
              <a:buNone/>
              <a:defRPr sz="1764"/>
            </a:lvl2pPr>
            <a:lvl3pPr marL="1008400" indent="0">
              <a:buNone/>
              <a:defRPr sz="1764"/>
            </a:lvl3pPr>
            <a:lvl4pPr marL="1512600" indent="0">
              <a:buNone/>
              <a:defRPr sz="1764"/>
            </a:lvl4pPr>
            <a:lvl5pPr marL="2016801" indent="0">
              <a:buNone/>
              <a:defRPr sz="1764"/>
            </a:lvl5pPr>
            <a:lvl6pPr marL="2521001" indent="0">
              <a:buNone/>
              <a:defRPr sz="1764"/>
            </a:lvl6pPr>
            <a:lvl7pPr marL="3025201" indent="0">
              <a:buNone/>
              <a:defRPr sz="1764"/>
            </a:lvl7pPr>
            <a:lvl8pPr marL="3529401" indent="0">
              <a:buNone/>
              <a:defRPr sz="1764"/>
            </a:lvl8pPr>
            <a:lvl9pPr marL="4033601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987348" y="4940848"/>
            <a:ext cx="2895238" cy="1445560"/>
          </a:xfrm>
        </p:spPr>
        <p:txBody>
          <a:bodyPr anchor="t">
            <a:normAutofit/>
          </a:bodyPr>
          <a:lstStyle>
            <a:lvl1pPr marL="0" indent="0" algn="ctr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9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26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8901" y="672254"/>
            <a:ext cx="2003685" cy="5714154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1475" y="672254"/>
            <a:ext cx="6943756" cy="571415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98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1474" y="672253"/>
            <a:ext cx="9081113" cy="107019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474" y="1910508"/>
            <a:ext cx="9081113" cy="44759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34891" y="6487946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1476" y="6487946"/>
            <a:ext cx="5852659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3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21665" y="6487946"/>
            <a:ext cx="660922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158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504200" rtl="0" eaLnBrk="1" latinLnBrk="0" hangingPunct="1">
        <a:spcBef>
          <a:spcPct val="0"/>
        </a:spcBef>
        <a:buNone/>
        <a:defRPr sz="4411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8150" indent="-337457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2206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94016" indent="-297756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"/>
        <a:defRPr sz="1985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131473" indent="-238205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176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528481" indent="-238205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"/>
        <a:defRPr sz="154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846087" indent="-238205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154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221701" indent="-252100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154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648705" indent="-252100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154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3075709" indent="-252100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154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425517" indent="-252100" algn="l" defTabSz="504200" rtl="0" eaLnBrk="1" latinLnBrk="0" hangingPunct="1">
        <a:spcBef>
          <a:spcPct val="20000"/>
        </a:spcBef>
        <a:spcAft>
          <a:spcPts val="662"/>
        </a:spcAft>
        <a:buClr>
          <a:schemeClr val="tx2"/>
        </a:buClr>
        <a:buSzPct val="70000"/>
        <a:buFont typeface="Wingdings 2" charset="2"/>
        <a:buChar char=""/>
        <a:defRPr sz="1544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031" y="1074420"/>
            <a:ext cx="8796527" cy="9052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00677" y="3719268"/>
            <a:ext cx="68275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Comparative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Growth</a:t>
            </a:r>
            <a:r>
              <a:rPr sz="2800" b="1" spc="-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b="1" spc="-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Algorithms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49067" y="3154680"/>
            <a:ext cx="5334635" cy="2565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7620">
              <a:lnSpc>
                <a:spcPts val="1970"/>
              </a:lnSpc>
            </a:pPr>
            <a:r>
              <a:rPr sz="1750" b="0" spc="-10" dirty="0">
                <a:latin typeface="Times New Roman"/>
                <a:cs typeface="Times New Roman"/>
              </a:rPr>
              <a:t>CSA-</a:t>
            </a:r>
            <a:r>
              <a:rPr sz="1750" b="0" dirty="0">
                <a:latin typeface="Times New Roman"/>
                <a:cs typeface="Times New Roman"/>
              </a:rPr>
              <a:t>06</a:t>
            </a:r>
            <a:r>
              <a:rPr sz="1750" b="0" spc="-5" dirty="0">
                <a:latin typeface="Times New Roman"/>
                <a:cs typeface="Times New Roman"/>
              </a:rPr>
              <a:t> </a:t>
            </a:r>
            <a:r>
              <a:rPr sz="1750" b="0" spc="-10" dirty="0">
                <a:latin typeface="Times New Roman"/>
                <a:cs typeface="Times New Roman"/>
              </a:rPr>
              <a:t>DESIGN</a:t>
            </a:r>
            <a:r>
              <a:rPr sz="1750" b="0" spc="-95" dirty="0">
                <a:latin typeface="Times New Roman"/>
                <a:cs typeface="Times New Roman"/>
              </a:rPr>
              <a:t> </a:t>
            </a:r>
            <a:r>
              <a:rPr sz="1750" b="0" dirty="0">
                <a:latin typeface="Times New Roman"/>
                <a:cs typeface="Times New Roman"/>
              </a:rPr>
              <a:t>AND</a:t>
            </a:r>
            <a:r>
              <a:rPr sz="1750" b="0" spc="-100" dirty="0">
                <a:latin typeface="Times New Roman"/>
                <a:cs typeface="Times New Roman"/>
              </a:rPr>
              <a:t> </a:t>
            </a:r>
            <a:r>
              <a:rPr sz="1750" b="0" spc="-20" dirty="0">
                <a:latin typeface="Times New Roman"/>
                <a:cs typeface="Times New Roman"/>
              </a:rPr>
              <a:t>ANALYSIS</a:t>
            </a:r>
            <a:r>
              <a:rPr sz="1750" b="0" spc="-10" dirty="0">
                <a:latin typeface="Times New Roman"/>
                <a:cs typeface="Times New Roman"/>
              </a:rPr>
              <a:t> </a:t>
            </a:r>
            <a:r>
              <a:rPr sz="1750" b="0" dirty="0">
                <a:latin typeface="Times New Roman"/>
                <a:cs typeface="Times New Roman"/>
              </a:rPr>
              <a:t>OF</a:t>
            </a:r>
            <a:r>
              <a:rPr sz="1750" b="0" spc="-100" dirty="0">
                <a:latin typeface="Times New Roman"/>
                <a:cs typeface="Times New Roman"/>
              </a:rPr>
              <a:t> </a:t>
            </a:r>
            <a:r>
              <a:rPr sz="1750" b="0" spc="-10" dirty="0">
                <a:latin typeface="Times New Roman"/>
                <a:cs typeface="Times New Roman"/>
              </a:rPr>
              <a:t>ALORITH</a:t>
            </a:r>
            <a:r>
              <a:rPr lang="en-IN" sz="1750" b="0" spc="-10" dirty="0">
                <a:latin typeface="Times New Roman"/>
                <a:cs typeface="Times New Roman"/>
              </a:rPr>
              <a:t>MS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04100" y="4848226"/>
            <a:ext cx="2971800" cy="493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By: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IN" sz="1550" dirty="0">
                <a:latin typeface="Times New Roman"/>
                <a:cs typeface="Times New Roman"/>
              </a:rPr>
              <a:t>CH.POORNA TEJA(192472149</a:t>
            </a:r>
            <a:endParaRPr sz="15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3337" y="2523852"/>
            <a:ext cx="5528945" cy="219138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75"/>
              </a:spcBef>
              <a:buFont typeface="Comic Sans MS"/>
              <a:buChar char="➢"/>
              <a:tabLst>
                <a:tab pos="263525" algn="l"/>
              </a:tabLst>
            </a:pPr>
            <a:r>
              <a:rPr sz="1550" dirty="0">
                <a:latin typeface="Times New Roman"/>
                <a:cs typeface="Times New Roman"/>
              </a:rPr>
              <a:t>Algorithm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analysis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measures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how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efficiently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works.</a:t>
            </a:r>
            <a:endParaRPr sz="1550">
              <a:latin typeface="Times New Roman"/>
              <a:cs typeface="Times New Roman"/>
            </a:endParaRPr>
          </a:p>
          <a:p>
            <a:pPr marL="12700" marR="62865" indent="250825">
              <a:lnSpc>
                <a:spcPct val="152600"/>
              </a:lnSpc>
              <a:spcBef>
                <a:spcPts val="5"/>
              </a:spcBef>
              <a:buFont typeface="Comic Sans MS"/>
              <a:buChar char="➢"/>
              <a:tabLst>
                <a:tab pos="263525" algn="l"/>
              </a:tabLst>
            </a:pPr>
            <a:r>
              <a:rPr sz="1550" dirty="0">
                <a:latin typeface="Times New Roman"/>
                <a:cs typeface="Times New Roman"/>
              </a:rPr>
              <a:t>Big-O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notation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shows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how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running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time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grows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size.</a:t>
            </a:r>
            <a:r>
              <a:rPr sz="1550" spc="5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omic Sans MS"/>
                <a:cs typeface="Comic Sans MS"/>
              </a:rPr>
              <a:t>Ø</a:t>
            </a:r>
            <a:r>
              <a:rPr sz="1550" spc="330" dirty="0">
                <a:latin typeface="Comic Sans MS"/>
                <a:cs typeface="Comic Sans MS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Common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complexities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are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O(log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n),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O(n),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O(n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log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n),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O(n²). </a:t>
            </a:r>
            <a:r>
              <a:rPr sz="1550" dirty="0">
                <a:latin typeface="Comic Sans MS"/>
                <a:cs typeface="Comic Sans MS"/>
              </a:rPr>
              <a:t>Ø</a:t>
            </a:r>
            <a:r>
              <a:rPr sz="1550" spc="345" dirty="0">
                <a:latin typeface="Comic Sans MS"/>
                <a:cs typeface="Comic Sans MS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Efficient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save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time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computing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resources.</a:t>
            </a:r>
            <a:endParaRPr sz="1550">
              <a:latin typeface="Times New Roman"/>
              <a:cs typeface="Times New Roman"/>
            </a:endParaRPr>
          </a:p>
          <a:p>
            <a:pPr marL="263525" indent="-250825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3525" algn="l"/>
              </a:tabLst>
            </a:pPr>
            <a:r>
              <a:rPr sz="1550" dirty="0">
                <a:latin typeface="Times New Roman"/>
                <a:cs typeface="Times New Roman"/>
              </a:rPr>
              <a:t>Comparing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growth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rates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helps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choose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best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algorithm.</a:t>
            </a:r>
            <a:endParaRPr sz="1550">
              <a:latin typeface="Times New Roman"/>
              <a:cs typeface="Times New Roman"/>
            </a:endParaRPr>
          </a:p>
          <a:p>
            <a:pPr marL="263525" indent="-250825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3525" algn="l"/>
              </a:tabLst>
            </a:pPr>
            <a:r>
              <a:rPr sz="1550" dirty="0">
                <a:latin typeface="Times New Roman"/>
                <a:cs typeface="Times New Roman"/>
              </a:rPr>
              <a:t>Problem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Statement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33971" y="2180684"/>
            <a:ext cx="277812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/>
              <a:t>Problem</a:t>
            </a:r>
            <a:r>
              <a:rPr sz="2600" spc="35" dirty="0"/>
              <a:t> </a:t>
            </a:r>
            <a:r>
              <a:rPr sz="2600" spc="-10" dirty="0"/>
              <a:t>Statement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580133" y="3247597"/>
            <a:ext cx="4723130" cy="183007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7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Large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datasets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require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efficient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algorithms.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Slow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algorithms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take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more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time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size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increases.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Compare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O(log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n),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O(n),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O(n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log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n),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O(n²).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69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Identify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which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complexity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grows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fastest.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Select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most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suitable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large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inputs.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711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10"/>
              </a:spcBef>
            </a:pPr>
            <a:r>
              <a:rPr dirty="0"/>
              <a:t>Algorithm</a:t>
            </a:r>
            <a:r>
              <a:rPr spc="-1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10" dirty="0"/>
              <a:t>Pseudocode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434" y="3333491"/>
            <a:ext cx="92075" cy="139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0133" y="3018688"/>
            <a:ext cx="5546090" cy="1469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235" dirty="0">
                <a:latin typeface="Trebuchet MS"/>
                <a:cs typeface="Trebuchet MS"/>
              </a:rPr>
              <a:t>Start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50" spc="200" dirty="0">
                <a:latin typeface="Trebuchet MS"/>
                <a:cs typeface="Trebuchet MS"/>
              </a:rPr>
              <a:t>Input</a:t>
            </a:r>
            <a:r>
              <a:rPr sz="1550" spc="445" dirty="0">
                <a:latin typeface="Trebuchet MS"/>
                <a:cs typeface="Trebuchet MS"/>
              </a:rPr>
              <a:t> </a:t>
            </a:r>
            <a:r>
              <a:rPr sz="1550" spc="229" dirty="0">
                <a:latin typeface="Trebuchet MS"/>
                <a:cs typeface="Trebuchet MS"/>
              </a:rPr>
              <a:t>different</a:t>
            </a:r>
            <a:r>
              <a:rPr sz="1550" spc="470" dirty="0">
                <a:latin typeface="Trebuchet MS"/>
                <a:cs typeface="Trebuchet MS"/>
              </a:rPr>
              <a:t> </a:t>
            </a:r>
            <a:r>
              <a:rPr sz="1550" spc="190" dirty="0">
                <a:latin typeface="Trebuchet MS"/>
                <a:cs typeface="Trebuchet MS"/>
              </a:rPr>
              <a:t>values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190" dirty="0">
                <a:latin typeface="Trebuchet MS"/>
                <a:cs typeface="Trebuchet MS"/>
              </a:rPr>
              <a:t>of</a:t>
            </a:r>
            <a:endParaRPr sz="1550">
              <a:latin typeface="Trebuchet MS"/>
              <a:cs typeface="Trebuchet MS"/>
            </a:endParaRPr>
          </a:p>
          <a:p>
            <a:pPr marL="12700" marR="5080">
              <a:lnSpc>
                <a:spcPct val="101899"/>
              </a:lnSpc>
            </a:pPr>
            <a:r>
              <a:rPr sz="1550" spc="190" dirty="0">
                <a:latin typeface="Trebuchet MS"/>
                <a:cs typeface="Trebuchet MS"/>
              </a:rPr>
              <a:t>Calculate</a:t>
            </a:r>
            <a:r>
              <a:rPr sz="1550" spc="475" dirty="0">
                <a:latin typeface="Trebuchet MS"/>
                <a:cs typeface="Trebuchet MS"/>
              </a:rPr>
              <a:t> </a:t>
            </a:r>
            <a:r>
              <a:rPr sz="1550" spc="175" dirty="0">
                <a:latin typeface="Trebuchet MS"/>
                <a:cs typeface="Trebuchet MS"/>
              </a:rPr>
              <a:t>O(log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254" dirty="0">
                <a:latin typeface="Trebuchet MS"/>
                <a:cs typeface="Trebuchet MS"/>
              </a:rPr>
              <a:t>n),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195" dirty="0">
                <a:latin typeface="Trebuchet MS"/>
                <a:cs typeface="Trebuchet MS"/>
              </a:rPr>
              <a:t>O(n),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90" dirty="0">
                <a:latin typeface="Trebuchet MS"/>
                <a:cs typeface="Trebuchet MS"/>
              </a:rPr>
              <a:t>O(n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225" dirty="0">
                <a:latin typeface="Trebuchet MS"/>
                <a:cs typeface="Trebuchet MS"/>
              </a:rPr>
              <a:t>log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254" dirty="0">
                <a:latin typeface="Trebuchet MS"/>
                <a:cs typeface="Trebuchet MS"/>
              </a:rPr>
              <a:t>n),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80" dirty="0">
                <a:latin typeface="Trebuchet MS"/>
                <a:cs typeface="Trebuchet MS"/>
              </a:rPr>
              <a:t>and</a:t>
            </a:r>
            <a:r>
              <a:rPr sz="1550" spc="465" dirty="0">
                <a:latin typeface="Trebuchet MS"/>
                <a:cs typeface="Trebuchet MS"/>
              </a:rPr>
              <a:t> </a:t>
            </a:r>
            <a:r>
              <a:rPr sz="1550" spc="150" dirty="0">
                <a:latin typeface="Trebuchet MS"/>
                <a:cs typeface="Trebuchet MS"/>
              </a:rPr>
              <a:t>O(n²) </a:t>
            </a:r>
            <a:r>
              <a:rPr sz="1550" spc="215" dirty="0">
                <a:latin typeface="Trebuchet MS"/>
                <a:cs typeface="Trebuchet MS"/>
              </a:rPr>
              <a:t>Display</a:t>
            </a:r>
            <a:r>
              <a:rPr sz="1550" spc="475" dirty="0">
                <a:latin typeface="Trebuchet MS"/>
                <a:cs typeface="Trebuchet MS"/>
              </a:rPr>
              <a:t> </a:t>
            </a:r>
            <a:r>
              <a:rPr sz="1550" spc="155" dirty="0">
                <a:latin typeface="Trebuchet MS"/>
                <a:cs typeface="Trebuchet MS"/>
              </a:rPr>
              <a:t>the</a:t>
            </a:r>
            <a:r>
              <a:rPr sz="1550" spc="455" dirty="0">
                <a:latin typeface="Trebuchet MS"/>
                <a:cs typeface="Trebuchet MS"/>
              </a:rPr>
              <a:t> </a:t>
            </a:r>
            <a:r>
              <a:rPr sz="1550" spc="125" dirty="0">
                <a:latin typeface="Trebuchet MS"/>
                <a:cs typeface="Trebuchet MS"/>
              </a:rPr>
              <a:t>comparison</a:t>
            </a:r>
            <a:r>
              <a:rPr sz="1550" spc="475" dirty="0">
                <a:latin typeface="Trebuchet MS"/>
                <a:cs typeface="Trebuchet MS"/>
              </a:rPr>
              <a:t> </a:t>
            </a:r>
            <a:r>
              <a:rPr sz="1550" spc="190" dirty="0">
                <a:latin typeface="Trebuchet MS"/>
                <a:cs typeface="Trebuchet MS"/>
              </a:rPr>
              <a:t>table</a:t>
            </a:r>
            <a:endParaRPr sz="1550">
              <a:latin typeface="Trebuchet MS"/>
              <a:cs typeface="Trebuchet MS"/>
            </a:endParaRPr>
          </a:p>
          <a:p>
            <a:pPr marL="12700" marR="1294765">
              <a:lnSpc>
                <a:spcPts val="1900"/>
              </a:lnSpc>
              <a:spcBef>
                <a:spcPts val="55"/>
              </a:spcBef>
            </a:pPr>
            <a:r>
              <a:rPr sz="1550" spc="150" dirty="0">
                <a:latin typeface="Trebuchet MS"/>
                <a:cs typeface="Trebuchet MS"/>
              </a:rPr>
              <a:t>Analyze</a:t>
            </a:r>
            <a:r>
              <a:rPr sz="1550" spc="455" dirty="0">
                <a:latin typeface="Trebuchet MS"/>
                <a:cs typeface="Trebuchet MS"/>
              </a:rPr>
              <a:t> </a:t>
            </a:r>
            <a:r>
              <a:rPr sz="1550" spc="155" dirty="0">
                <a:latin typeface="Trebuchet MS"/>
                <a:cs typeface="Trebuchet MS"/>
              </a:rPr>
              <a:t>the</a:t>
            </a:r>
            <a:r>
              <a:rPr sz="1550" spc="434" dirty="0">
                <a:latin typeface="Trebuchet MS"/>
                <a:cs typeface="Trebuchet MS"/>
              </a:rPr>
              <a:t> </a:t>
            </a:r>
            <a:r>
              <a:rPr sz="1550" spc="114" dirty="0">
                <a:latin typeface="Trebuchet MS"/>
                <a:cs typeface="Trebuchet MS"/>
              </a:rPr>
              <a:t>growth</a:t>
            </a:r>
            <a:r>
              <a:rPr sz="1550" spc="459" dirty="0">
                <a:latin typeface="Trebuchet MS"/>
                <a:cs typeface="Trebuchet MS"/>
              </a:rPr>
              <a:t> </a:t>
            </a:r>
            <a:r>
              <a:rPr sz="1550" spc="215" dirty="0">
                <a:latin typeface="Trebuchet MS"/>
                <a:cs typeface="Trebuchet MS"/>
              </a:rPr>
              <a:t>of</a:t>
            </a:r>
            <a:r>
              <a:rPr sz="1550" spc="434" dirty="0">
                <a:latin typeface="Trebuchet MS"/>
                <a:cs typeface="Trebuchet MS"/>
              </a:rPr>
              <a:t> </a:t>
            </a:r>
            <a:r>
              <a:rPr sz="1550" spc="105" dirty="0">
                <a:latin typeface="Trebuchet MS"/>
                <a:cs typeface="Trebuchet MS"/>
              </a:rPr>
              <a:t>each</a:t>
            </a:r>
            <a:r>
              <a:rPr sz="1550" spc="455" dirty="0">
                <a:latin typeface="Trebuchet MS"/>
                <a:cs typeface="Trebuchet MS"/>
              </a:rPr>
              <a:t> </a:t>
            </a:r>
            <a:r>
              <a:rPr sz="1550" spc="170" dirty="0">
                <a:latin typeface="Trebuchet MS"/>
                <a:cs typeface="Trebuchet MS"/>
              </a:rPr>
              <a:t>algorithm </a:t>
            </a:r>
            <a:r>
              <a:rPr sz="1550" spc="130" dirty="0">
                <a:latin typeface="Trebuchet MS"/>
                <a:cs typeface="Trebuchet MS"/>
              </a:rPr>
              <a:t>Stop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65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Architecture</a:t>
            </a:r>
            <a:r>
              <a:rPr spc="-70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983" y="2467356"/>
            <a:ext cx="6480048" cy="3941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0440" y="1366335"/>
            <a:ext cx="475551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Implementation</a:t>
            </a:r>
            <a:r>
              <a:rPr spc="-70" dirty="0"/>
              <a:t> </a:t>
            </a:r>
            <a:r>
              <a:rPr dirty="0"/>
              <a:t>(Python</a:t>
            </a:r>
            <a:r>
              <a:rPr spc="-65" dirty="0"/>
              <a:t> </a:t>
            </a:r>
            <a:r>
              <a:rPr spc="-10" dirty="0"/>
              <a:t>Code)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8730" y="3647425"/>
            <a:ext cx="92075" cy="139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01321" y="2611820"/>
            <a:ext cx="3314700" cy="38741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135" dirty="0">
                <a:latin typeface="Georgia"/>
                <a:cs typeface="Georgia"/>
              </a:rPr>
              <a:t>import</a:t>
            </a:r>
            <a:r>
              <a:rPr sz="1550" spc="85" dirty="0">
                <a:latin typeface="Georgia"/>
                <a:cs typeface="Georgia"/>
              </a:rPr>
              <a:t>  </a:t>
            </a:r>
            <a:r>
              <a:rPr sz="1550" spc="-20" dirty="0">
                <a:latin typeface="Georgia"/>
                <a:cs typeface="Georgia"/>
              </a:rPr>
              <a:t>math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550" dirty="0">
                <a:latin typeface="Georgia"/>
                <a:cs typeface="Georgia"/>
              </a:rPr>
              <a:t>n</a:t>
            </a:r>
            <a:r>
              <a:rPr sz="1550" spc="80" dirty="0">
                <a:latin typeface="Georgia"/>
                <a:cs typeface="Georgia"/>
              </a:rPr>
              <a:t>  </a:t>
            </a:r>
            <a:r>
              <a:rPr sz="1550" dirty="0">
                <a:latin typeface="Georgia"/>
                <a:cs typeface="Georgia"/>
              </a:rPr>
              <a:t>=</a:t>
            </a:r>
            <a:r>
              <a:rPr sz="1550" spc="80" dirty="0">
                <a:latin typeface="Georgia"/>
                <a:cs typeface="Georgia"/>
              </a:rPr>
              <a:t>  </a:t>
            </a:r>
            <a:r>
              <a:rPr sz="1550" spc="265" dirty="0">
                <a:latin typeface="Georgia"/>
                <a:cs typeface="Georgia"/>
              </a:rPr>
              <a:t>[10,</a:t>
            </a:r>
            <a:r>
              <a:rPr sz="1550" spc="70" dirty="0">
                <a:latin typeface="Georgia"/>
                <a:cs typeface="Georgia"/>
              </a:rPr>
              <a:t>  </a:t>
            </a:r>
            <a:r>
              <a:rPr sz="1550" spc="175" dirty="0">
                <a:latin typeface="Georgia"/>
                <a:cs typeface="Georgia"/>
              </a:rPr>
              <a:t>100,</a:t>
            </a:r>
            <a:r>
              <a:rPr sz="1550" spc="80" dirty="0">
                <a:latin typeface="Georgia"/>
                <a:cs typeface="Georgia"/>
              </a:rPr>
              <a:t>  </a:t>
            </a:r>
            <a:r>
              <a:rPr sz="1550" spc="75" dirty="0">
                <a:latin typeface="Georgia"/>
                <a:cs typeface="Georgia"/>
              </a:rPr>
              <a:t>1000]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550">
              <a:latin typeface="Georgia"/>
              <a:cs typeface="Georgia"/>
            </a:endParaRPr>
          </a:p>
          <a:p>
            <a:pPr marL="12700" marR="5080">
              <a:lnSpc>
                <a:spcPct val="101899"/>
              </a:lnSpc>
            </a:pPr>
            <a:r>
              <a:rPr sz="1550" spc="254" dirty="0">
                <a:latin typeface="Georgia"/>
                <a:cs typeface="Georgia"/>
              </a:rPr>
              <a:t>print("</a:t>
            </a:r>
            <a:r>
              <a:rPr sz="1550" spc="85" dirty="0">
                <a:latin typeface="Georgia"/>
                <a:cs typeface="Georgia"/>
              </a:rPr>
              <a:t>  </a:t>
            </a:r>
            <a:r>
              <a:rPr sz="1550" spc="160" dirty="0">
                <a:latin typeface="Georgia"/>
                <a:cs typeface="Georgia"/>
              </a:rPr>
              <a:t>\tO(logn)\tO(n)\tO(n </a:t>
            </a:r>
            <a:r>
              <a:rPr sz="1550" spc="190" dirty="0">
                <a:latin typeface="Georgia"/>
                <a:cs typeface="Georgia"/>
              </a:rPr>
              <a:t>logn)\tO(n²)")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50" spc="260" dirty="0">
                <a:latin typeface="Georgia"/>
                <a:cs typeface="Georgia"/>
              </a:rPr>
              <a:t>for</a:t>
            </a:r>
            <a:r>
              <a:rPr sz="1550" spc="85" dirty="0">
                <a:latin typeface="Georgia"/>
                <a:cs typeface="Georgia"/>
              </a:rPr>
              <a:t>  </a:t>
            </a:r>
            <a:r>
              <a:rPr sz="1550" spc="475" dirty="0">
                <a:latin typeface="Georgia"/>
                <a:cs typeface="Georgia"/>
              </a:rPr>
              <a:t>i</a:t>
            </a:r>
            <a:r>
              <a:rPr sz="1550" spc="85" dirty="0">
                <a:latin typeface="Georgia"/>
                <a:cs typeface="Georgia"/>
              </a:rPr>
              <a:t>  </a:t>
            </a:r>
            <a:r>
              <a:rPr sz="1550" spc="245" dirty="0">
                <a:latin typeface="Georgia"/>
                <a:cs typeface="Georgia"/>
              </a:rPr>
              <a:t>in</a:t>
            </a:r>
            <a:r>
              <a:rPr sz="1550" spc="80" dirty="0">
                <a:latin typeface="Georgia"/>
                <a:cs typeface="Georgia"/>
              </a:rPr>
              <a:t>  </a:t>
            </a:r>
            <a:r>
              <a:rPr sz="1550" spc="200" dirty="0">
                <a:latin typeface="Georgia"/>
                <a:cs typeface="Georgia"/>
              </a:rPr>
              <a:t>n:</a:t>
            </a:r>
            <a:endParaRPr sz="1550">
              <a:latin typeface="Georgia"/>
              <a:cs typeface="Georgia"/>
            </a:endParaRPr>
          </a:p>
          <a:p>
            <a:pPr marL="482600">
              <a:lnSpc>
                <a:spcPct val="100000"/>
              </a:lnSpc>
              <a:spcBef>
                <a:spcPts val="35"/>
              </a:spcBef>
            </a:pPr>
            <a:r>
              <a:rPr sz="1550" spc="310" dirty="0">
                <a:latin typeface="Georgia"/>
                <a:cs typeface="Georgia"/>
              </a:rPr>
              <a:t>print(i,</a:t>
            </a:r>
            <a:r>
              <a:rPr sz="1550" spc="90" dirty="0">
                <a:latin typeface="Georgia"/>
                <a:cs typeface="Georgia"/>
              </a:rPr>
              <a:t>  </a:t>
            </a:r>
            <a:r>
              <a:rPr sz="1550" spc="315" dirty="0">
                <a:latin typeface="Georgia"/>
                <a:cs typeface="Georgia"/>
              </a:rPr>
              <a:t>"\t",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550">
              <a:latin typeface="Georgia"/>
              <a:cs typeface="Georgia"/>
            </a:endParaRPr>
          </a:p>
          <a:p>
            <a:pPr marL="1186180" marR="5080" indent="-1174115">
              <a:lnSpc>
                <a:spcPct val="101899"/>
              </a:lnSpc>
            </a:pPr>
            <a:r>
              <a:rPr sz="1550" spc="210" dirty="0">
                <a:latin typeface="Georgia"/>
                <a:cs typeface="Georgia"/>
              </a:rPr>
              <a:t>round(math.log2(i),2),</a:t>
            </a:r>
            <a:r>
              <a:rPr sz="1550" spc="114" dirty="0">
                <a:latin typeface="Georgia"/>
                <a:cs typeface="Georgia"/>
              </a:rPr>
              <a:t>  </a:t>
            </a:r>
            <a:r>
              <a:rPr sz="1550" spc="320" dirty="0">
                <a:latin typeface="Georgia"/>
                <a:cs typeface="Georgia"/>
              </a:rPr>
              <a:t>"\t", </a:t>
            </a:r>
            <a:r>
              <a:rPr sz="1550" spc="495" dirty="0">
                <a:latin typeface="Georgia"/>
                <a:cs typeface="Georgia"/>
              </a:rPr>
              <a:t>i,</a:t>
            </a:r>
            <a:r>
              <a:rPr sz="1550" spc="85" dirty="0">
                <a:latin typeface="Georgia"/>
                <a:cs typeface="Georgia"/>
              </a:rPr>
              <a:t>  </a:t>
            </a:r>
            <a:r>
              <a:rPr sz="1550" spc="305" dirty="0">
                <a:latin typeface="Georgia"/>
                <a:cs typeface="Georgia"/>
              </a:rPr>
              <a:t>"\t",</a:t>
            </a:r>
            <a:endParaRPr sz="15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550">
              <a:latin typeface="Georgia"/>
              <a:cs typeface="Georgia"/>
            </a:endParaRPr>
          </a:p>
          <a:p>
            <a:pPr marL="12700" marR="474980">
              <a:lnSpc>
                <a:spcPct val="101899"/>
              </a:lnSpc>
            </a:pPr>
            <a:r>
              <a:rPr sz="1550" spc="210" dirty="0">
                <a:latin typeface="Georgia"/>
                <a:cs typeface="Georgia"/>
              </a:rPr>
              <a:t>round(i*math.log2(i),2), </a:t>
            </a:r>
            <a:r>
              <a:rPr sz="1550" spc="320" dirty="0">
                <a:latin typeface="Georgia"/>
                <a:cs typeface="Georgia"/>
              </a:rPr>
              <a:t>"\t",</a:t>
            </a:r>
            <a:endParaRPr sz="1550">
              <a:latin typeface="Georgia"/>
              <a:cs typeface="Georgia"/>
            </a:endParaRPr>
          </a:p>
          <a:p>
            <a:pPr marL="1186180">
              <a:lnSpc>
                <a:spcPct val="100000"/>
              </a:lnSpc>
              <a:spcBef>
                <a:spcPts val="35"/>
              </a:spcBef>
            </a:pPr>
            <a:r>
              <a:rPr sz="1550" spc="345" dirty="0">
                <a:latin typeface="Georgia"/>
                <a:cs typeface="Georgia"/>
              </a:rPr>
              <a:t>i*i)</a:t>
            </a:r>
            <a:endParaRPr sz="15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8652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048" y="2996183"/>
            <a:ext cx="8014716" cy="2746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947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Complexity</a:t>
            </a:r>
            <a:r>
              <a:rPr spc="-110" dirty="0"/>
              <a:t> </a:t>
            </a:r>
            <a:r>
              <a:rPr spc="-10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99437" y="2942082"/>
          <a:ext cx="7480299" cy="1666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Gadugi"/>
                          <a:cs typeface="Gadugi"/>
                        </a:rPr>
                        <a:t>Complexity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Gadugi"/>
                          <a:cs typeface="Gadugi"/>
                        </a:rPr>
                        <a:t>Growth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Gadugi"/>
                          <a:cs typeface="Gadugi"/>
                        </a:rPr>
                        <a:t>Example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O(log</a:t>
                      </a:r>
                      <a:r>
                        <a:rPr sz="950" spc="10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25" dirty="0">
                          <a:latin typeface="Gadugi"/>
                          <a:cs typeface="Gadugi"/>
                        </a:rPr>
                        <a:t>n)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1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Very</a:t>
                      </a:r>
                      <a:r>
                        <a:rPr sz="950" spc="10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20" dirty="0">
                          <a:latin typeface="Gadugi"/>
                          <a:cs typeface="Gadugi"/>
                        </a:rPr>
                        <a:t>Slow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1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Binary</a:t>
                      </a:r>
                      <a:r>
                        <a:rPr sz="950" spc="10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10" dirty="0">
                          <a:latin typeface="Gadugi"/>
                          <a:cs typeface="Gadugi"/>
                        </a:rPr>
                        <a:t>Search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950" spc="-20" dirty="0">
                          <a:latin typeface="Gadugi"/>
                          <a:cs typeface="Gadugi"/>
                        </a:rPr>
                        <a:t>O(n)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950" spc="-20" dirty="0">
                          <a:latin typeface="Gadugi"/>
                          <a:cs typeface="Gadugi"/>
                        </a:rPr>
                        <a:t>Slow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Linear </a:t>
                      </a:r>
                      <a:r>
                        <a:rPr sz="950" spc="-10" dirty="0">
                          <a:latin typeface="Gadugi"/>
                          <a:cs typeface="Gadugi"/>
                        </a:rPr>
                        <a:t>Search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O(n</a:t>
                      </a:r>
                      <a:r>
                        <a:rPr sz="950" spc="15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dirty="0">
                          <a:latin typeface="Gadugi"/>
                          <a:cs typeface="Gadugi"/>
                        </a:rPr>
                        <a:t>log</a:t>
                      </a:r>
                      <a:r>
                        <a:rPr sz="950" spc="10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25" dirty="0">
                          <a:latin typeface="Gadugi"/>
                          <a:cs typeface="Gadugi"/>
                        </a:rPr>
                        <a:t>n)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1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spc="-10" dirty="0">
                          <a:latin typeface="Gadugi"/>
                          <a:cs typeface="Gadugi"/>
                        </a:rPr>
                        <a:t>Medium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1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Merge</a:t>
                      </a:r>
                      <a:r>
                        <a:rPr sz="950" spc="35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20" dirty="0">
                          <a:latin typeface="Gadugi"/>
                          <a:cs typeface="Gadugi"/>
                        </a:rPr>
                        <a:t>Sort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950" spc="-10" dirty="0">
                          <a:latin typeface="Gadugi"/>
                          <a:cs typeface="Gadugi"/>
                        </a:rPr>
                        <a:t>O(n²)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Very</a:t>
                      </a:r>
                      <a:r>
                        <a:rPr sz="950" spc="5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20" dirty="0">
                          <a:latin typeface="Gadugi"/>
                          <a:cs typeface="Gadugi"/>
                        </a:rPr>
                        <a:t>Fast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9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950" dirty="0">
                          <a:latin typeface="Gadugi"/>
                          <a:cs typeface="Gadugi"/>
                        </a:rPr>
                        <a:t>Bubble</a:t>
                      </a:r>
                      <a:r>
                        <a:rPr sz="950" spc="5" dirty="0">
                          <a:latin typeface="Gadugi"/>
                          <a:cs typeface="Gadugi"/>
                        </a:rPr>
                        <a:t> </a:t>
                      </a:r>
                      <a:r>
                        <a:rPr sz="950" spc="-20" dirty="0">
                          <a:latin typeface="Gadugi"/>
                          <a:cs typeface="Gadugi"/>
                        </a:rPr>
                        <a:t>Sort</a:t>
                      </a:r>
                      <a:endParaRPr sz="950">
                        <a:latin typeface="Gadugi"/>
                        <a:cs typeface="Gadug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0100" y="2458200"/>
            <a:ext cx="4395470" cy="183007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7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O(log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n)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most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efficient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large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inputs.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O(n)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suitable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simple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processing.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O(n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log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n)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best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efficient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sorting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algorithms.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O(n²)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becomes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very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slow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large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datasets.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69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Lower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Big-O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complexity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gives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better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performance.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25194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8961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9815" y="3113643"/>
            <a:ext cx="5597525" cy="110934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61620" indent="-248920">
              <a:lnSpc>
                <a:spcPct val="100000"/>
              </a:lnSpc>
              <a:spcBef>
                <a:spcPts val="107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Thomas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H.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Cormen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al.,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Introduction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Algorithms,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4th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Edition.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Robert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Sedgewick,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Algorithms,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4th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Edition.</a:t>
            </a:r>
            <a:endParaRPr sz="1550">
              <a:latin typeface="Times New Roman"/>
              <a:cs typeface="Times New Roman"/>
            </a:endParaRPr>
          </a:p>
          <a:p>
            <a:pPr marL="261620" indent="-248920">
              <a:lnSpc>
                <a:spcPct val="100000"/>
              </a:lnSpc>
              <a:spcBef>
                <a:spcPts val="985"/>
              </a:spcBef>
              <a:buFont typeface="Comic Sans MS"/>
              <a:buChar char="➢"/>
              <a:tabLst>
                <a:tab pos="261620" algn="l"/>
              </a:tabLst>
            </a:pPr>
            <a:r>
              <a:rPr sz="1550" dirty="0">
                <a:latin typeface="Times New Roman"/>
                <a:cs typeface="Times New Roman"/>
              </a:rPr>
              <a:t>Donald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E.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Knuth, The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Art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Computer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Programming.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24404" y="3273110"/>
            <a:ext cx="2385060" cy="826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50" b="0" spc="-680" dirty="0">
                <a:latin typeface="Times New Roman"/>
                <a:cs typeface="Times New Roman"/>
              </a:rPr>
              <a:t>Thank</a:t>
            </a:r>
            <a:r>
              <a:rPr sz="5250" b="0" spc="45" dirty="0">
                <a:latin typeface="Times New Roman"/>
                <a:cs typeface="Times New Roman"/>
              </a:rPr>
              <a:t> </a:t>
            </a:r>
            <a:r>
              <a:rPr sz="5250" b="0" spc="-695" dirty="0">
                <a:latin typeface="Times New Roman"/>
                <a:cs typeface="Times New Roman"/>
              </a:rPr>
              <a:t>You</a:t>
            </a:r>
            <a:endParaRPr sz="5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</TotalTime>
  <Words>399</Words>
  <Application>Microsoft Office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Calisto MT</vt:lpstr>
      <vt:lpstr>Comic Sans MS</vt:lpstr>
      <vt:lpstr>Gadugi</vt:lpstr>
      <vt:lpstr>Georgia</vt:lpstr>
      <vt:lpstr>Times New Roman</vt:lpstr>
      <vt:lpstr>Trebuchet MS</vt:lpstr>
      <vt:lpstr>Wingdings 2</vt:lpstr>
      <vt:lpstr>Slate</vt:lpstr>
      <vt:lpstr>CSA-06 DESIGN AND ANALYSIS OF ALORITHMS</vt:lpstr>
      <vt:lpstr>Introduction</vt:lpstr>
      <vt:lpstr>Problem Statement</vt:lpstr>
      <vt:lpstr>Algorithm / Pseudocode</vt:lpstr>
      <vt:lpstr>Architecture Diagram</vt:lpstr>
      <vt:lpstr>Implementation (Python Code)</vt:lpstr>
      <vt:lpstr>Output</vt:lpstr>
      <vt:lpstr>Complexity Analysis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presentation.pptx</dc:title>
  <dc:creator>poorn</dc:creator>
  <cp:lastModifiedBy>poornatejachinni@gmail.com</cp:lastModifiedBy>
  <cp:revision>1</cp:revision>
  <dcterms:created xsi:type="dcterms:W3CDTF">2026-07-25T04:28:07Z</dcterms:created>
  <dcterms:modified xsi:type="dcterms:W3CDTF">2026-07-25T04:39:03Z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2026-07-20T00:00:00Z</vt:filetime>
  </property>
  <property fmtid="{D5CDD505-2E9C-101B-9397-08002B2CF9AE}" pid="4" name="LastSaved">
    <vt:filetime>2026-07-25T00:00:00Z</vt:filetime>
  </property>
  <property fmtid="{D5CDD505-2E9C-101B-9397-08002B2CF9AE}" pid="5" name="Producer">
    <vt:lpwstr>Microsoft: Print To PDF</vt:lpwstr>
  </property>
</Properties>
</file>